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695" cy="6858000"/>
  <p:notesSz cx="6858000" cy="12191695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viewProps.xml><?xml version="1.0" encoding="utf-8"?>
<p:viewP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slideViewPr>
    <p:cSldViewPr>
      <p:cViewPr>
        <p:scale>
          <a:sx d="1" n="1"/>
          <a:sy d="1" n="1"/>
        </p:scale>
        <p:origin x="1" y="1"/>
      </p:cViewPr>
      <p:guideLst>
        <p:guide orient="horz" pos="2160"/>
        <p:guide orient="vert" pos="2880"/>
      </p:guideLst>
    </p:cSldViewPr>
  </p:slideViewPr>
</p:viewPr>
</file>

<file path=ppt/_rels/presentation.xml.rels><?xml version="1.0" encoding="UTF-8" standalone="no" ?>
<Relationships xmlns="http://schemas.openxmlformats.org/package/2006/relationships">
  <Relationship Id="rId6" Target="slides/slide4.xml" Type="http://schemas.openxmlformats.org/officeDocument/2006/relationships/slide"/>
  <Relationship Id="rId1" Target="theme/theme1.xml" Type="http://schemas.openxmlformats.org/officeDocument/2006/relationships/theme"/>
  <Relationship Id="rId12" Target="viewProps.xml" Type="http://schemas.openxmlformats.org/officeDocument/2006/relationships/viewProps"/>
  <Relationship Id="rId10" Target="slides/slide8.xml" Type="http://schemas.openxmlformats.org/officeDocument/2006/relationships/slide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8" Target="slides/slide6.xml" Type="http://schemas.openxmlformats.org/officeDocument/2006/relationships/slide"/>
  <Relationship Id="rId4" Target="slides/slide2.xml" Type="http://schemas.openxmlformats.org/officeDocument/2006/relationships/slide"/>
  <Relationship Id="rId11" Target="tableStyles.xml" Type="http://schemas.openxmlformats.org/officeDocument/2006/relationships/tableStyles"/>
  <Relationship Id="rId9" Target="slides/slide7.xml" Type="http://schemas.openxmlformats.org/officeDocument/2006/relationships/slide"/>
  <Relationship Id="rId7" Target="slides/slide5.xml" Type="http://schemas.openxmlformats.org/officeDocument/2006/relationships/slide"/>
  <Relationship Id="rId5" Target="slides/slide3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14" name="GroupShape 1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" name="Shape 15"/>
          <p:cNvSpPr txBox="true"/>
          <p:nvPr isPhoto="false">
            <p:ph idx="0" type="title"/>
          </p:nvPr>
        </p:nvSpPr>
        <p:spPr>
          <a:xfrm flipH="false" flipV="false" rot="0"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16" name="Shape 16"/>
          <p:cNvSpPr txBox="true"/>
          <p:nvPr isPhoto="false">
            <p:ph idx="1" type="subTitle"/>
          </p:nvPr>
        </p:nvSpPr>
        <p:spPr>
          <a:xfrm flipH="false" flipV="false" rot="0"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defPPr/>
            <a:lvl1pPr algn="ctr" indent="0" lvl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lvl="1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hidden="false" id="17" name="Shape 1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8" name="Shape 1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9" name="Shape 1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8E834A5-6B65-4C17-BD94-EC20D1F8C101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70" name="GroupShape 7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1" name="Shape 7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72" name="Shape 72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73" name="Shape 7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74" name="Shape 7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5" name="Shape 7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7562BE0-6AFB-43D8-AFC5-A5730AFF45E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41" name="GroupShape 4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2" name="Shape 42"/>
          <p:cNvSpPr txBox="true"/>
          <p:nvPr isPhoto="false">
            <p:ph idx="0" type="title"/>
          </p:nvPr>
        </p:nvSpPr>
        <p:spPr>
          <a:xfrm flipH="false" flipV="false" rot="0"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defPPr/>
            <a:lvl1pPr algn="l" lvl="0">
              <a:defRPr b="true" cap="all" sz="4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43" name="Shape 43"/>
          <p:cNvSpPr txBox="true"/>
          <p:nvPr isPhoto="false">
            <p:ph idx="1" type="body"/>
          </p:nvPr>
        </p:nvSpPr>
        <p:spPr>
          <a:xfrm flipH="false" flipV="false" rot="0">
            <a:off x="722313" y="2906713"/>
            <a:ext cx="7772400" cy="1500186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44" name="Shape 4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5" name="Shape 4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6" name="Shape 4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D8B08E8-6DCF-4290-806C-5D5988559F0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36" name="GroupShape 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7" name="Shape 3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38" name="Shape 3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9" name="Shape 3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0" name="Shape 4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3D130E19-6833-45CA-B6CA-3044955A6E3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20" name="GroupShape 2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1" name="Shape 2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22" name="Shape 22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23" name="Shape 23"/>
          <p:cNvSpPr txBox="true"/>
          <p:nvPr isPhoto="false">
            <p:ph idx="2" type="body"/>
          </p:nvPr>
        </p:nvSpPr>
        <p:spPr>
          <a:xfrm flipH="false" flipV="false" rot="0"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24" name="Shape 2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5" name="Shape 2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6" name="Shape 2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B3DBAF20-8DF9-4CBB-B7A1-4DB4D3D799C5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47" name="GroupShape 4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8" name="Shape 4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9" name="Shape 4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0" name="Shape 5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C3486BC-393C-4532-8C3E-3CB5DF313D8F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TxTwoObj">
  <p:cSld name="Comparison">
    <p:spTree>
      <p:nvGrpSpPr>
        <p:cNvPr hidden="false" id="27" name="GroupShape 2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8" name="Shape 2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29" name="Shape 29"/>
          <p:cNvSpPr txBox="true"/>
          <p:nvPr isPhoto="false">
            <p:ph idx="1" type="body"/>
          </p:nvPr>
        </p:nvSpPr>
        <p:spPr>
          <a:xfrm flipH="false" flipV="false" rot="0"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30" name="Shape 30"/>
          <p:cNvSpPr txBox="true"/>
          <p:nvPr isPhoto="false">
            <p:ph idx="2" type="body"/>
          </p:nvPr>
        </p:nvSpPr>
        <p:spPr>
          <a:xfrm flipH="false" flipV="false" rot="0"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1" name="Shape 31"/>
          <p:cNvSpPr txBox="true"/>
          <p:nvPr isPhoto="false">
            <p:ph idx="3" type="body"/>
          </p:nvPr>
        </p:nvSpPr>
        <p:spPr>
          <a:xfrm flipH="false" flipV="false" rot="0"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32" name="Shape 32"/>
          <p:cNvSpPr txBox="true"/>
          <p:nvPr isPhoto="false">
            <p:ph idx="4" type="body"/>
          </p:nvPr>
        </p:nvSpPr>
        <p:spPr>
          <a:xfrm flipH="false" flipV="false" rot="0"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3" name="Shape 3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4" name="Shape 3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5" name="Shape 3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BA218176-82CF-4E0F-8EBF-2DB41877464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Tx">
  <p:cSld name="Title, Text and Object">
    <p:spTree>
      <p:nvGrpSpPr>
        <p:cNvPr hidden="false" id="51" name="GroupShape 5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2" name="Shape 52"/>
          <p:cNvSpPr txBox="true"/>
          <p:nvPr isPhoto="false">
            <p:ph idx="0" type="title"/>
          </p:nvPr>
        </p:nvSpPr>
        <p:spPr>
          <a:xfrm flipH="false" flipV="false" rot="0"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53" name="Shape 53"/>
          <p:cNvSpPr txBox="true"/>
          <p:nvPr isPhoto="false">
            <p:ph idx="1" type="body"/>
          </p:nvPr>
        </p:nvSpPr>
        <p:spPr>
          <a:xfrm flipH="false" flipV="false" rot="0"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54" name="Shape 54"/>
          <p:cNvSpPr txBox="true"/>
          <p:nvPr isPhoto="false">
            <p:ph idx="2" type="body"/>
          </p:nvPr>
        </p:nvSpPr>
        <p:spPr>
          <a:xfrm flipH="false" flipV="false" rot="0"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55" name="Shape 55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6" name="Shape 56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7" name="Shape 5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3128D5C5-DD08-48D5-809C-A91C38E4A2CD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picTx">
  <p:cSld name="Title and Picture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xfrm flipH="false" flipV="false" rot="0">
            <a:off x="1792288" y="4800600"/>
            <a:ext cx="5486400" cy="566737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9" name="Shape 9"/>
          <p:cNvSpPr txBox="true"/>
          <p:nvPr isPhoto="false">
            <p:ph idx="1" type="body"/>
          </p:nvPr>
        </p:nvSpPr>
        <p:spPr>
          <a:xfrm flipH="false" flipV="false" rot="0"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3200"/>
            </a:lvl1pPr>
            <a:lvl2pPr indent="0" lvl="1" marL="457200">
              <a:buNone/>
              <a:defRPr sz="2800"/>
            </a:lvl2pPr>
            <a:lvl3pPr indent="0" lvl="2" marL="914400">
              <a:buNone/>
              <a:defRPr sz="2400"/>
            </a:lvl3pPr>
            <a:lvl4pPr indent="0" lvl="3" marL="1371600">
              <a:buNone/>
              <a:defRPr sz="2000"/>
            </a:lvl4pPr>
            <a:lvl5pPr indent="0" lvl="4" marL="1828800">
              <a:buNone/>
              <a:defRPr sz="2000"/>
            </a:lvl5pPr>
            <a:lvl6pPr indent="0" lvl="5" marL="2286000">
              <a:buNone/>
              <a:defRPr sz="2000"/>
            </a:lvl6pPr>
            <a:lvl7pPr indent="0" lvl="6" marL="2743200">
              <a:buNone/>
              <a:defRPr sz="2000"/>
            </a:lvl7pPr>
            <a:lvl8pPr indent="0" lvl="7" marL="3200400">
              <a:buNone/>
              <a:defRPr sz="2000"/>
            </a:lvl8pPr>
            <a:lvl9pPr indent="0" lvl="8" marL="3657600">
              <a:buNone/>
              <a:defRPr sz="2000"/>
            </a:lvl9pPr>
          </a:lstStyle>
          <a:p/>
        </p:txBody>
      </p:sp>
      <p:sp>
        <p:nvSpPr>
          <p:cNvPr hidden="false" id="10" name="Shape 10"/>
          <p:cNvSpPr txBox="true"/>
          <p:nvPr isPhoto="false">
            <p:ph idx="2" type="body"/>
          </p:nvPr>
        </p:nvSpPr>
        <p:spPr>
          <a:xfrm flipH="false" flipV="false" rot="0"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11" name="Shape 1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2" name="Shape 12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3" name="Shape 1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24376EA-1DBD-42C0-8EA1-EA513BAAA88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x">
  <p:cSld name="Title and Vertical Text">
    <p:spTree>
      <p:nvGrpSpPr>
        <p:cNvPr hidden="false" id="58" name="GroupShape 5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9" name="Shape 5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60" name="Shape 60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61" name="Shape 6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2" name="Shape 62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3" name="Shape 6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E71AD38-AA15-4A3A-A53E-B36A44489CC2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itleAndTx">
  <p:cSld name="Vertical Title and Text">
    <p:spTree>
      <p:nvGrpSpPr>
        <p:cNvPr hidden="false" id="64" name="GroupShape 6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5" name="Shape 65"/>
          <p:cNvSpPr txBox="true"/>
          <p:nvPr isPhoto="false">
            <p:ph idx="0" type="title"/>
          </p:nvPr>
        </p:nvSpPr>
        <p:spPr>
          <a:xfrm flipH="false" flipV="false" rot="0"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66" name="Shape 66"/>
          <p:cNvSpPr txBox="true"/>
          <p:nvPr isPhoto="false">
            <p:ph idx="1" type="body"/>
          </p:nvPr>
        </p:nvSpPr>
        <p:spPr>
          <a:xfrm flipH="false" flipV="false" rot="0"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67" name="Shape 6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8" name="Shape 6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9" name="Shape 6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938EF2BD-30A2-4950-A2DE-99FB715AE730}" type="slidenum">
              <a:t>&lt;#&gt;</a:t>
            </a:fld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12" Target="../slideLayouts/slideLayout11.xml" Type="http://schemas.openxmlformats.org/officeDocument/2006/relationships/slideLayout"/>
  <Relationship Id="rId10" Target="../slideLayouts/slideLayout9.xml" Type="http://schemas.openxmlformats.org/officeDocument/2006/relationships/slideLayout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8" Target="../slideLayouts/slideLayout7.xml" Type="http://schemas.openxmlformats.org/officeDocument/2006/relationships/slideLayout"/>
  <Relationship Id="rId4" Target="../slideLayouts/slideLayout3.xml" Type="http://schemas.openxmlformats.org/officeDocument/2006/relationships/slideLayout"/>
  <Relationship Id="rId11" Target="../slideLayouts/slideLayout10.xml" Type="http://schemas.openxmlformats.org/officeDocument/2006/relationships/slideLayout"/>
  <Relationship Id="rId9" Target="../slideLayouts/slideLayout8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tIns="45720" vert="horz">
            <a:normAutofit fontScale="100%" lnSpcReduction="0%"/>
          </a:bodyPr>
          <a:p>
            <a:r>
              <a:t>Click to edit Master title style</a:t>
            </a:r>
          </a:p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tIns="45720" vert="horz">
            <a:normAutofit fontScale="100%" lnSpcReduction="0%"/>
          </a:bodyPr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l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1/27/13</a:t>
            </a: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ct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C829CF-9F6A-40A3-9A5C-025EFA5F049C}" type="slidenum">
              <a:t>&lt;#&gt;</a:t>
            </a:fld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defPPr/>
      <a:lvl1pPr algn="ctr" lvl="0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342900" lvl="0" marL="342900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indent="-285750" lvl="1" marL="742950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6" name="GroupShape 7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7" name="Shape 77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8" name="Shape 78"/>
          <p:cNvSpPr txBox="false"/>
          <p:nvPr isPhoto="false"/>
        </p:nvSpPr>
        <p:spPr>
          <a:xfrm flipH="false" flipV="false" rot="0">
            <a:off x="731520" y="1371600"/>
            <a:ext cx="2926080" cy="411479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8BDF8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r>
              <a:rPr b="true" sz="120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ХАКАТОН • 9–11 КЛАССЫ</a:t>
            </a:r>
            <a:endParaRPr b="true" sz="1200">
              <a:solidFill>
                <a:srgbClr val="38BDF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9" name="Shape 79"/>
          <p:cNvSpPr txBox="true"/>
          <p:nvPr isPhoto="false"/>
        </p:nvSpPr>
        <p:spPr>
          <a:xfrm flipH="false" flipV="false" rot="0">
            <a:off x="731520" y="2011679"/>
            <a:ext cx="10515600" cy="164592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40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ПОРТАЛ ДОСТИЖЕНИЙ ЛИЦЕЯ</a:t>
            </a:r>
            <a:endParaRPr b="true" sz="40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Bef>
                <a:spcPts val="800"/>
              </a:spcBef>
            </a:pPr>
            <a:r>
              <a:rPr sz="160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Учёт успехов по физике, математике и информатике: верификация, портфолио, рейтинг и Telegram-бот</a:t>
            </a:r>
            <a:endParaRPr sz="1600">
              <a:solidFill>
                <a:srgbClr val="38BDF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0" name="Shape 80"/>
          <p:cNvSpPr txBox="false"/>
          <p:nvPr isPhoto="false"/>
        </p:nvSpPr>
        <p:spPr>
          <a:xfrm flipH="false" flipV="false" rot="0">
            <a:off x="731520" y="3931920"/>
            <a:ext cx="10698480" cy="2011679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1" name="Shape 81"/>
          <p:cNvSpPr txBox="true"/>
          <p:nvPr isPhoto="false"/>
        </p:nvSpPr>
        <p:spPr>
          <a:xfrm flipH="false" flipV="false" rot="0">
            <a:off x="914400" y="4069080"/>
            <a:ext cx="10332720" cy="173736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Команда разработчиков Хоббиты: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Фаррахов Ислам</a:t>
            </a:r>
            <a:b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</a:b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Якубов Амир</a:t>
            </a:r>
            <a:b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</a:b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Гумеров Раиль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2" name="GroupShape 8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3" name="Shape 83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4" name="Shape 84"/>
          <p:cNvSpPr txBox="true"/>
          <p:nvPr isPhoto="false"/>
        </p:nvSpPr>
        <p:spPr>
          <a:xfrm flipH="false" flipV="false" rot="0">
            <a:off x="731520" y="457200"/>
            <a:ext cx="7315200" cy="36576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110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ПРОБЛЕМАТИКА &amp; ЦЕННОСТЬ ПРОДУКТА</a:t>
            </a:r>
            <a:endParaRPr b="true" sz="1100">
              <a:solidFill>
                <a:srgbClr val="38BDF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5" name="Shape 85"/>
          <p:cNvSpPr txBox="true"/>
          <p:nvPr isPhoto="false"/>
        </p:nvSpPr>
        <p:spPr>
          <a:xfrm flipH="false" flipV="false" rot="0">
            <a:off x="731520" y="777240"/>
            <a:ext cx="10058400" cy="73152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24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Зачем лицею единый цифровой портал достижений?</a:t>
            </a:r>
            <a:endParaRPr b="true" sz="24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6" name="Shape 86"/>
          <p:cNvSpPr txBox="false"/>
          <p:nvPr isPhoto="false"/>
        </p:nvSpPr>
        <p:spPr>
          <a:xfrm flipH="false" flipV="false" rot="0">
            <a:off x="731520" y="1645920"/>
            <a:ext cx="5120640" cy="4572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EF4444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7" name="Shape 87"/>
          <p:cNvSpPr txBox="true"/>
          <p:nvPr isPhoto="false"/>
        </p:nvSpPr>
        <p:spPr>
          <a:xfrm flipH="false" flipV="false" rot="0">
            <a:off x="914400" y="1783079"/>
            <a:ext cx="4754880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❌ Как устроено сейчас (Проблемы)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Бумажный хаос грамот: дипломы олимпиад и хакатонов оседают дома в папках и теряются к 11 классу.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Непрозрачный отбор: при распределении в профильные классы и начислении стипендий сложно учесть все успехи объективно.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Перегрузка учителей: ручной сбор подтверждений и сведение отчётов в Excel отнимают десятки часов.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Отсутствие единого профиля: ученик не видит свой реальный рейтинг и отставание от стипендии.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8" name="Shape 88"/>
          <p:cNvSpPr txBox="false"/>
          <p:nvPr isPhoto="false"/>
        </p:nvSpPr>
        <p:spPr>
          <a:xfrm flipH="false" flipV="false" rot="0">
            <a:off x="6217920" y="1645920"/>
            <a:ext cx="5212080" cy="4572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4D399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9" name="Shape 89"/>
          <p:cNvSpPr txBox="true"/>
          <p:nvPr isPhoto="false"/>
        </p:nvSpPr>
        <p:spPr>
          <a:xfrm flipH="false" flipV="false" rot="0">
            <a:off x="6400800" y="1783079"/>
            <a:ext cx="4846319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✅ Наше цифровое решение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Единый личный кабинет: ученик загружает достижения, сканы дипломов и видит свой прогресс.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Прозрачная верификация: учитель проверяет скан диплома и подтверждает/отклоняет заявку в 1 клик.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Автоматический пересчёт: баллы начисляются по утверждённой матрице (тип + уровень + результат).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Мобильный доступ: Telegram-бот HobbitBot для быстрой подачи заявок со смартфона.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Готовое портфолио: мгновенная генерация официального PDF-документа для вузов и комиссий.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0" name="GroupShape 9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1" name="Shape 91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2" name="Shape 92"/>
          <p:cNvSpPr txBox="true"/>
          <p:nvPr isPhoto="false"/>
        </p:nvSpPr>
        <p:spPr>
          <a:xfrm flipH="false" flipV="false" rot="0">
            <a:off x="731520" y="457200"/>
            <a:ext cx="7315200" cy="36576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110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СИСТЕМА ОЦЕНИВАНИЯ &amp; МОТИВАЦИЯ</a:t>
            </a:r>
            <a:endParaRPr b="true" sz="1100">
              <a:solidFill>
                <a:srgbClr val="38BDF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3" name="Shape 93"/>
          <p:cNvSpPr txBox="true"/>
          <p:nvPr isPhoto="false"/>
        </p:nvSpPr>
        <p:spPr>
          <a:xfrm flipH="false" flipV="false" rot="0">
            <a:off x="731520" y="777240"/>
            <a:ext cx="10058400" cy="73152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24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Справедливая матрица начисления баллов</a:t>
            </a:r>
            <a:endParaRPr b="true" sz="24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4" name="Shape 94"/>
          <p:cNvSpPr txBox="false"/>
          <p:nvPr isPhoto="false"/>
        </p:nvSpPr>
        <p:spPr>
          <a:xfrm flipH="false" flipV="false" rot="0">
            <a:off x="731520" y="1645920"/>
            <a:ext cx="3383280" cy="457200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1E293B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5" name="Shape 95"/>
          <p:cNvSpPr txBox="true"/>
          <p:nvPr isPhoto="false"/>
        </p:nvSpPr>
        <p:spPr>
          <a:xfrm flipH="false" flipV="false" rot="0">
            <a:off x="914400" y="1783079"/>
            <a:ext cx="3017520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🎯 Предметный фокус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Ключевые дисциплины лицея: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⚛️ Физика (ВсОШ, Росатом, олимпиада «Шаг в будущее»)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📐 Математика (городские матбои, турнир Ломоносова)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💻 Информатика (хакатоны, олимпиады по IT, робототехника)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🚀 Научные проекты и конференции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🤝 Волонтёрство и социальные часы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6" name="Shape 96"/>
          <p:cNvSpPr txBox="false"/>
          <p:nvPr isPhoto="false"/>
        </p:nvSpPr>
        <p:spPr>
          <a:xfrm flipH="false" flipV="false" rot="0">
            <a:off x="4389120" y="1645920"/>
            <a:ext cx="3383280" cy="4572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7" name="Shape 97"/>
          <p:cNvSpPr txBox="true"/>
          <p:nvPr isPhoto="false"/>
        </p:nvSpPr>
        <p:spPr>
          <a:xfrm flipH="false" flipV="false" rot="0">
            <a:off x="4572000" y="1783079"/>
            <a:ext cx="3017519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📊 Градация уровней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Баллы зависят от масштаба: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Федеральный / Всерос: до 70 баллов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Региональный: до 50 баллов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Городской: до 35 баллов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Школьный этап: до 20 баллов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Градация результатов: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Победитель &gt; Призёр &gt; Участник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8" name="Shape 98"/>
          <p:cNvSpPr txBox="false"/>
          <p:nvPr isPhoto="false"/>
        </p:nvSpPr>
        <p:spPr>
          <a:xfrm flipH="false" flipV="false" rot="0">
            <a:off x="8046719" y="1645920"/>
            <a:ext cx="3383280" cy="4572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4D399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9" name="Shape 99"/>
          <p:cNvSpPr txBox="true"/>
          <p:nvPr isPhoto="false"/>
        </p:nvSpPr>
        <p:spPr>
          <a:xfrm flipH="false" flipV="false" rot="0">
            <a:off x="8229600" y="1783079"/>
            <a:ext cx="3017519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🛡 Защита от накрутки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Почему система надёжна?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1. Ученик не вводит баллы вручную — их вычисляет алгоритм по матрице правил.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2. Баллы начисляются в рейтинг ТОЛЬКО после проверки учителем.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3. Обязательное прикрепление ссылки на подтверждающий диплом/скан.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4. При отклонении учитель обязан указать причину.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0" name="GroupShape 10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1" name="Shape 101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2" name="Shape 102"/>
          <p:cNvSpPr txBox="true"/>
          <p:nvPr isPhoto="false"/>
        </p:nvSpPr>
        <p:spPr>
          <a:xfrm flipH="false" flipV="false" rot="0">
            <a:off x="731520" y="457200"/>
            <a:ext cx="7315200" cy="36576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110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ТЕХНИЧЕСКАЯ АРХИТЕКТУРА (9–11 КЛАССЫ)</a:t>
            </a:r>
            <a:endParaRPr b="true" sz="1100">
              <a:solidFill>
                <a:srgbClr val="38BDF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3" name="Shape 103"/>
          <p:cNvSpPr txBox="true"/>
          <p:nvPr isPhoto="false"/>
        </p:nvSpPr>
        <p:spPr>
          <a:xfrm flipH="false" flipV="false" rot="0">
            <a:off x="731520" y="777240"/>
            <a:ext cx="10058400" cy="73152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24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Инженерия данных, безопасность и краевые случаи</a:t>
            </a:r>
            <a:endParaRPr b="true" sz="24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4" name="Shape 104"/>
          <p:cNvSpPr txBox="false"/>
          <p:nvPr isPhoto="false"/>
        </p:nvSpPr>
        <p:spPr>
          <a:xfrm flipH="false" flipV="false" rot="0">
            <a:off x="731520" y="1645920"/>
            <a:ext cx="5120640" cy="457200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1E293B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5" name="Shape 105"/>
          <p:cNvSpPr txBox="true"/>
          <p:nvPr isPhoto="false"/>
        </p:nvSpPr>
        <p:spPr>
          <a:xfrm flipH="false" flipV="false" rot="0">
            <a:off x="914400" y="1783079"/>
            <a:ext cx="4754880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🏛 3-звенная архитектура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UI (Интерфейс): адаптивный HTML5 / CSS3 / ES6, работает без установки серверов прямо из архива.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API-Слой (api.js): изолированная бизнес-логика. Методы готовы к замене на fetch() к бэкенду без правки интерфейса.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Схема БД (schema.sql): PostgreSQL в 3-й нормальной форме. Включает таблицы users, achievements, points_matrix, аудит.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Локальный бэкенд: скрипт database/init_sqlite.py для развёртывания базы на SQLite.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6" name="Shape 106"/>
          <p:cNvSpPr txBox="false"/>
          <p:nvPr isPhoto="false"/>
        </p:nvSpPr>
        <p:spPr>
          <a:xfrm flipH="false" flipV="false" rot="0">
            <a:off x="6217920" y="1645920"/>
            <a:ext cx="5212080" cy="4572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7" name="Shape 107"/>
          <p:cNvSpPr txBox="true"/>
          <p:nvPr isPhoto="false"/>
        </p:nvSpPr>
        <p:spPr>
          <a:xfrm flipH="false" flipV="false" rot="0">
            <a:off x="6400800" y="1783079"/>
            <a:ext cx="4846319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⚡ Решение краевых случаев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Коллизия: 2 администратора подтверждают одно достижение: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Реализована оптимистичная блокировка. Статус меняется строго из 'pending'. Повторное подтверждение отклоняется ошибкой с фиксацией первого админа.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Чужой диплом или фальсификация: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Проверка скана диплома по реестру/протоколу, отклонение с публичным комментарием.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Безопасность: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Хеширование паролей, санитизация через esc() против XSS, параметризованные SQL-запросы.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8" name="GroupShape 10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9" name="Shape 109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0" name="Shape 110"/>
          <p:cNvSpPr txBox="true"/>
          <p:nvPr isPhoto="false"/>
        </p:nvSpPr>
        <p:spPr>
          <a:xfrm flipH="false" flipV="false" rot="0">
            <a:off x="731520" y="457200"/>
            <a:ext cx="7315200" cy="36576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110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МОБИЛЬНАЯ ИНТЕГРАЦИЯ</a:t>
            </a:r>
            <a:endParaRPr b="true" sz="1100">
              <a:solidFill>
                <a:srgbClr val="38BDF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1" name="Shape 111"/>
          <p:cNvSpPr txBox="true"/>
          <p:nvPr isPhoto="false"/>
        </p:nvSpPr>
        <p:spPr>
          <a:xfrm flipH="false" flipV="false" rot="0">
            <a:off x="731520" y="777240"/>
            <a:ext cx="10058400" cy="73152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24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Telegram-бот лицея HobbitBot</a:t>
            </a:r>
            <a:endParaRPr b="true" sz="24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2" name="Shape 112"/>
          <p:cNvSpPr txBox="false"/>
          <p:nvPr isPhoto="false"/>
        </p:nvSpPr>
        <p:spPr>
          <a:xfrm flipH="false" flipV="false" rot="0">
            <a:off x="731520" y="1645920"/>
            <a:ext cx="5120640" cy="4572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3" name="Shape 113"/>
          <p:cNvSpPr txBox="true"/>
          <p:nvPr isPhoto="false"/>
        </p:nvSpPr>
        <p:spPr>
          <a:xfrm flipH="false" flipV="false" rot="0">
            <a:off x="914400" y="1783079"/>
            <a:ext cx="4754880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🤖 Возможности бота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Авторизация ученика: /login &lt;логин&gt; &lt;пароль&gt; с привязкой сессии.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📊 Мой рейтинг: мгновенный просмотр текущих баллов с детализацией по физике, математике и IT.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🏆 Топ-10 лицея: просмотр лидеров рейтинга в реальном времени.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➕ Подача достижения: пошаговый мастер прямо в чате со смартфона (название → категория → результат).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📜 Статус заявок: мониторинг статуса проверки учителем.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🤖 Совет ИИ: персональная подсказка, где добрать баллы.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4" name="Shape 114"/>
          <p:cNvSpPr txBox="false"/>
          <p:nvPr isPhoto="false"/>
        </p:nvSpPr>
        <p:spPr>
          <a:xfrm flipH="false" flipV="false" rot="0">
            <a:off x="6217920" y="1645920"/>
            <a:ext cx="5212080" cy="457200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1E293B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5" name="Shape 115"/>
          <p:cNvSpPr txBox="true"/>
          <p:nvPr isPhoto="false"/>
        </p:nvSpPr>
        <p:spPr>
          <a:xfrm flipH="false" flipV="false" rot="0">
            <a:off x="6400800" y="1783079"/>
            <a:ext cx="4846319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💡 Реализация и демонстрация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Два дополняющих решения команды: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1. Серверный бот на чистом Python (bot/telegram_bot.py):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Работает без внешних зависимостей (только urllib и json).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Быстрый запуск в 1 клик через run_bot.bat.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Подключён реальный бот HobbitBot.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2. Интерактивный веб-симулятор (bot.html):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Точная копия интерфейса Telegram в браузере.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Позволяет жюри протестировать сценарии бота офлайн без интернета!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Полная синхронизация с базой данных портала.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16" name="GroupShape 1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7" name="Shape 117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8" name="Shape 118"/>
          <p:cNvSpPr txBox="true"/>
          <p:nvPr isPhoto="false"/>
        </p:nvSpPr>
        <p:spPr>
          <a:xfrm flipH="false" flipV="false" rot="0">
            <a:off x="731520" y="457200"/>
            <a:ext cx="7315200" cy="36576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110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UX/UI &amp; ИННОВАЦИИ</a:t>
            </a:r>
            <a:endParaRPr b="true" sz="1100">
              <a:solidFill>
                <a:srgbClr val="38BDF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9" name="Shape 119"/>
          <p:cNvSpPr txBox="true"/>
          <p:nvPr isPhoto="false"/>
        </p:nvSpPr>
        <p:spPr>
          <a:xfrm flipH="false" flipV="false" rot="0">
            <a:off x="731520" y="777240"/>
            <a:ext cx="10058400" cy="73152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24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Личный кабинет, PDF-портфолио и ИИ-помощник</a:t>
            </a:r>
            <a:endParaRPr b="true" sz="24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0" name="Shape 120"/>
          <p:cNvSpPr txBox="false"/>
          <p:nvPr isPhoto="false"/>
        </p:nvSpPr>
        <p:spPr>
          <a:xfrm flipH="false" flipV="false" rot="0">
            <a:off x="731520" y="1645920"/>
            <a:ext cx="3383280" cy="457200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1E293B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1" name="Shape 121"/>
          <p:cNvSpPr txBox="true"/>
          <p:nvPr isPhoto="false"/>
        </p:nvSpPr>
        <p:spPr>
          <a:xfrm flipH="false" flipV="false" rot="0">
            <a:off x="914400" y="1783079"/>
            <a:ext cx="3017520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📄 Официальное портфолио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Генерация чистого документа для приёмных комиссий и стипендиальных советов.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Автоматическая сводка по категориям STEM.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Список подтверждённых достижений с датами и баллами.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Экспорт в PDF / печать в 1 клик (Ctrl+P).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2" name="Shape 122"/>
          <p:cNvSpPr txBox="false"/>
          <p:nvPr isPhoto="false"/>
        </p:nvSpPr>
        <p:spPr>
          <a:xfrm flipH="false" flipV="false" rot="0">
            <a:off x="4389120" y="1645920"/>
            <a:ext cx="3383280" cy="4572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3" name="Shape 123"/>
          <p:cNvSpPr txBox="true"/>
          <p:nvPr isPhoto="false"/>
        </p:nvSpPr>
        <p:spPr>
          <a:xfrm flipH="false" flipV="false" rot="0">
            <a:off x="4572000" y="1783079"/>
            <a:ext cx="3017519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🤖 ИИ-помощник лицеиста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Анализирует баланс дисциплин (STEM-аудит).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Рассчитывает отставание от порога академической стипендии (60+ баллов).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Выявляет пробелы (например, 'нет достижений по математике').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Рекомендует конкретные турниры для участия.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4" name="Shape 124"/>
          <p:cNvSpPr txBox="false"/>
          <p:nvPr isPhoto="false"/>
        </p:nvSpPr>
        <p:spPr>
          <a:xfrm flipH="false" flipV="false" rot="0">
            <a:off x="8046719" y="1645920"/>
            <a:ext cx="3383280" cy="4572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4D399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5" name="Shape 125"/>
          <p:cNvSpPr txBox="true"/>
          <p:nvPr isPhoto="false"/>
        </p:nvSpPr>
        <p:spPr>
          <a:xfrm flipH="false" flipV="false" rot="0">
            <a:off x="8229600" y="1783079"/>
            <a:ext cx="3017519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🎖 Элементы геймификации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4 ступени прогресса: Новичок → Активист → Мастер наук → Легенда лицея.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Тематические бейджи: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⚛️ «Юный Ньютон» (физика)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📐 «Архимед» (математика)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💻 «Кодер лицея» (IT)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🏆 «Чемпион» (2+ победы).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6" name="GroupShape 12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7" name="Shape 127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8" name="Shape 128"/>
          <p:cNvSpPr txBox="true"/>
          <p:nvPr isPhoto="false"/>
        </p:nvSpPr>
        <p:spPr>
          <a:xfrm flipH="false" flipV="false" rot="0">
            <a:off x="731520" y="457200"/>
            <a:ext cx="7315200" cy="36576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110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ИНСТРУМЕНТЫ АДМИНИСТРАТОРА &amp; РЕЙТИНГ</a:t>
            </a:r>
            <a:endParaRPr b="true" sz="1100">
              <a:solidFill>
                <a:srgbClr val="38BDF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9" name="Shape 129"/>
          <p:cNvSpPr txBox="true"/>
          <p:nvPr isPhoto="false"/>
        </p:nvSpPr>
        <p:spPr>
          <a:xfrm flipH="false" flipV="false" rot="0">
            <a:off x="731520" y="777240"/>
            <a:ext cx="10058400" cy="73152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24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Управление качеством данных и соревновательный дух</a:t>
            </a:r>
            <a:endParaRPr b="true" sz="24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0" name="Shape 130"/>
          <p:cNvSpPr txBox="false"/>
          <p:nvPr isPhoto="false"/>
        </p:nvSpPr>
        <p:spPr>
          <a:xfrm flipH="false" flipV="false" rot="0">
            <a:off x="731520" y="1645920"/>
            <a:ext cx="5120640" cy="457200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1E293B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1" name="Shape 131"/>
          <p:cNvSpPr txBox="true"/>
          <p:nvPr isPhoto="false"/>
        </p:nvSpPr>
        <p:spPr>
          <a:xfrm flipH="false" flipV="false" rot="0">
            <a:off x="914400" y="1783079"/>
            <a:ext cx="4754880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⚙️ Кабинет учителя / администратора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Экспресс-панель модерации: проверка входящих заявок учеников.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Просмотр прикреплённых сканов дипломов по ссылке.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Быстрые действия: '✓ Принять' / '✗ Отклонить' с обязательной фиксацией причины.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Прямое внесение достижений любому ученику от имени лицея.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Экспорт отчёта в CSV (с поддержкой Excel UTF-8 BOM) для школьной отчётности.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2" name="Shape 132"/>
          <p:cNvSpPr txBox="false"/>
          <p:nvPr isPhoto="false"/>
        </p:nvSpPr>
        <p:spPr>
          <a:xfrm flipH="false" flipV="false" rot="0">
            <a:off x="6217920" y="1645920"/>
            <a:ext cx="5212080" cy="4572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8BDF8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3" name="Shape 133"/>
          <p:cNvSpPr txBox="true"/>
          <p:nvPr isPhoto="false"/>
        </p:nvSpPr>
        <p:spPr>
          <a:xfrm flipH="false" flipV="false" rot="0">
            <a:off x="6400800" y="1783079"/>
            <a:ext cx="4846319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🏆 Рейтинговая система (Лидерборд)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Подиум лидеров: Топ-10 учеников с золотым, серебряным и бронзовым оформлением.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Гибкие фильтры: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- По направлениям (Физика / Математика / Информатика)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- По классам (9А, 9Б, 10А, 11Б)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- По периодам дат (четверть, полугодие, учебный год).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Подсветка строки текущего ученика в общей таблице лицея.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4" name="GroupShape 13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5" name="Shape 135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6" name="Shape 136"/>
          <p:cNvSpPr txBox="true"/>
          <p:nvPr isPhoto="false"/>
        </p:nvSpPr>
        <p:spPr>
          <a:xfrm flipH="false" flipV="false" rot="0">
            <a:off x="731520" y="457200"/>
            <a:ext cx="7315200" cy="36576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110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ПЛАН МАСШТАБИРОВАНИЯ &amp; ЗАЩИТА</a:t>
            </a:r>
            <a:endParaRPr b="true" sz="1100">
              <a:solidFill>
                <a:srgbClr val="38BDF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7" name="Shape 137"/>
          <p:cNvSpPr txBox="true"/>
          <p:nvPr isPhoto="false"/>
        </p:nvSpPr>
        <p:spPr>
          <a:xfrm flipH="false" flipV="false" rot="0">
            <a:off x="731520" y="777240"/>
            <a:ext cx="10058400" cy="73152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/>
            <a:r>
              <a:rPr b="true" sz="24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Готовность к внедрению и перспективы развития</a:t>
            </a:r>
            <a:endParaRPr b="true" sz="24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8" name="Shape 138"/>
          <p:cNvSpPr txBox="false"/>
          <p:nvPr isPhoto="false"/>
        </p:nvSpPr>
        <p:spPr>
          <a:xfrm flipH="false" flipV="false" rot="0">
            <a:off x="731520" y="1645920"/>
            <a:ext cx="5120640" cy="4572000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1E293B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9" name="Shape 139"/>
          <p:cNvSpPr txBox="true"/>
          <p:nvPr isPhoto="false"/>
        </p:nvSpPr>
        <p:spPr>
          <a:xfrm flipH="false" flipV="false" rot="0">
            <a:off x="914400" y="1783079"/>
            <a:ext cx="4754880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🚀 План масштабирования (Roadmap)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1. Интеграция с электронным журналом (ЭЖД):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 Автоматическая синхронизация списков учеников и классов.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2. Серверное хранилище дипломов (S3 / WebDAV):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 Прямая загрузка PDF-файлов и изображений с автоматическим OCR-распознаванием печатей.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3. Интеграция с Госуслугами / РДДМ: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   Верификация лицейских портфолио для получения доп. баллов к ЕГЭ.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0" name="Shape 140"/>
          <p:cNvSpPr txBox="false"/>
          <p:nvPr isPhoto="false"/>
        </p:nvSpPr>
        <p:spPr>
          <a:xfrm flipH="false" flipV="false" rot="0">
            <a:off x="6217920" y="1645920"/>
            <a:ext cx="5212080" cy="45720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34D399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1" name="Shape 141"/>
          <p:cNvSpPr txBox="true"/>
          <p:nvPr isPhoto="false"/>
        </p:nvSpPr>
        <p:spPr>
          <a:xfrm flipH="false" flipV="false" rot="0">
            <a:off x="6400800" y="1783079"/>
            <a:ext cx="4846319" cy="4297680"/>
          </a:xfrm>
          <a:prstGeom prst="rect">
            <a:avLst/>
          </a:prstGeom>
          <a:noFill/>
        </p:spPr>
        <p:txBody>
          <a:bodyPr bIns="45720" lIns="91440" rIns="91440" tIns="4572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sz="150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✨ Итоги проекта</a:t>
            </a:r>
            <a:endParaRPr b="true" sz="1500">
              <a:solidFill>
                <a:srgbClr val="F8FAFC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100% готовность прототипа: веб-платформа открывается локально двойным кликом.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Telegram-бот HobbitBot настроен и работает с реальным Bot API.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• Полное соответствие всем критериям группы 9–11 классов.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Готовы перейти к живой демонстрации прототипа!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sz="120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Спасибо за внимание!</a:t>
            </a:r>
            <a:endParaRPr sz="1200">
              <a:solidFill>
                <a:srgbClr val="94A3B8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MyOffice-CoreFramework-Windows/38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terms:modified xsi:type="dcterms:W3CDTF">2013-01-27T09:15:58Z</dcterms:modified>
</cp:coreProperties>
</file>